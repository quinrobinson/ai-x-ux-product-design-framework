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9" r:id="rId6"/>
    <p:sldId id="260" r:id="rId7"/>
    <p:sldId id="274" r:id="rId8"/>
    <p:sldId id="275" r:id="rId9"/>
    <p:sldId id="264" r:id="rId10"/>
    <p:sldId id="261" r:id="rId11"/>
    <p:sldId id="262" r:id="rId12"/>
    <p:sldId id="263" r:id="rId13"/>
    <p:sldId id="265" r:id="rId14"/>
    <p:sldId id="276" r:id="rId15"/>
    <p:sldId id="266" r:id="rId16"/>
    <p:sldId id="267" r:id="rId17"/>
    <p:sldId id="268" r:id="rId18"/>
    <p:sldId id="270" r:id="rId19"/>
    <p:sldId id="271" r:id="rId20"/>
    <p:sldId id="272" r:id="rId21"/>
    <p:sldId id="273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5CF6"/>
    <a:srgbClr val="EF4444"/>
    <a:srgbClr val="3B82F6"/>
    <a:srgbClr val="F69E0B"/>
    <a:srgbClr val="21C55D"/>
    <a:srgbClr val="14B8A6"/>
    <a:srgbClr val="334155"/>
    <a:srgbClr val="F8FAFC"/>
    <a:srgbClr val="0F172A"/>
    <a:srgbClr val="1E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56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17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573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51180" y="2638564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project template for integrating AI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every phase of product design.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4727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45262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0" y="4727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Design Phases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45262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12080" y="4727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Skill Files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0" y="45262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LEVERAGE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0" y="4727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throughout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5943599"/>
            <a:ext cx="1280160" cy="0"/>
          </a:xfrm>
          <a:prstGeom prst="rect">
            <a:avLst/>
          </a:prstGeom>
          <a:solidFill>
            <a:srgbClr val="22C55E">
              <a:alpha val="45000"/>
            </a:srgbClr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5943599"/>
            <a:ext cx="1280160" cy="0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8056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5943599"/>
            <a:ext cx="1280160" cy="0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5943599"/>
            <a:ext cx="1280160" cy="0"/>
          </a:xfrm>
          <a:prstGeom prst="rect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2104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21040" y="5943599"/>
            <a:ext cx="1280160" cy="0"/>
          </a:xfrm>
          <a:prstGeom prst="rect">
            <a:avLst/>
          </a:prstGeom>
          <a:solidFill>
            <a:srgbClr val="EF4444">
              <a:alpha val="45000"/>
            </a:srgbClr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24128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241280" y="5943599"/>
            <a:ext cx="1280160" cy="0"/>
          </a:xfrm>
          <a:prstGeom prst="rect">
            <a:avLst/>
          </a:prstGeom>
          <a:solidFill>
            <a:srgbClr val="14B8A6">
              <a:alpha val="45000"/>
            </a:srgbClr>
          </a:solidFill>
          <a:ln w="12700">
            <a:solidFill>
              <a:srgbClr val="14B8A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652881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— Duplicate the Figma template for each new project</a:t>
            </a:r>
            <a:endParaRPr lang="en-US" sz="900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04332FF0-9213-0424-5B31-D8F994501510}"/>
              </a:ext>
            </a:extLst>
          </p:cNvPr>
          <p:cNvSpPr/>
          <p:nvPr/>
        </p:nvSpPr>
        <p:spPr>
          <a:xfrm>
            <a:off x="513080" y="403376"/>
            <a:ext cx="73152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Product</a:t>
            </a:r>
            <a:r>
              <a:rPr lang="en-US" sz="5600" dirty="0"/>
              <a:t> </a:t>
            </a: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Framework</a:t>
            </a:r>
            <a:endParaRPr lang="en-US" sz="5600" dirty="0"/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26FEB608-F140-D9DA-E84B-9021EE55EF31}"/>
              </a:ext>
            </a:extLst>
          </p:cNvPr>
          <p:cNvSpPr/>
          <p:nvPr/>
        </p:nvSpPr>
        <p:spPr>
          <a:xfrm>
            <a:off x="640080" y="2387624"/>
            <a:ext cx="109728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289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AI x UX Design Framework?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91440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framework. Any project. Every phase. </a:t>
            </a:r>
          </a:p>
          <a:p>
            <a:r>
              <a:rPr lang="en-US" sz="1400" dirty="0"/>
              <a:t>Use what's useful now, grow it over time. Upload a skill file, describe your project, and Claude follows the structured workflow — from research through delivery.</a:t>
            </a:r>
            <a:endParaRPr lang="en-US" sz="13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080" y="2606173"/>
            <a:ext cx="3566160" cy="150876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3080" y="2606173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5960" y="2761621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5960" y="3127381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skill files covering every design phase — from discovery through delivery.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07840" y="2606173"/>
            <a:ext cx="3566160" cy="150876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07840" y="2606173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90720" y="2761621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AI-integrated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90720" y="3127381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templates, and workflows built for Claude and other AI tools.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2600" y="2606173"/>
            <a:ext cx="3566160" cy="150876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02600" y="2606173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85480" y="2761621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system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85480" y="3127381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grow with your practice. Add, modify, and scale as you go.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50267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521590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files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450267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91840" y="521590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phases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450267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943600" y="521590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tools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0" y="450267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8595360" y="521590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template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51180" y="594360"/>
            <a:ext cx="977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is fast. Design workflows haven't caught up.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38480" y="1508760"/>
            <a:ext cx="5394960" cy="13258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8480" y="150876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1360" y="16459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tools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1360" y="1984248"/>
            <a:ext cx="440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used ad hoc — one-off prompts, no systematic approach to integration across the team.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07760" y="1508760"/>
            <a:ext cx="5394960" cy="13258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07760" y="150876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90640" y="16459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outputs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90640" y="1984248"/>
            <a:ext cx="440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designer uses AI differently, leading to unpredictable quality across projects.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8480" y="3017520"/>
            <a:ext cx="5394960" cy="13258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8480" y="301752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1360" y="31546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language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1360" y="3493008"/>
            <a:ext cx="440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lack templates and frameworks to leverage AI collectively and repeatably.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07760" y="3017520"/>
            <a:ext cx="5394960" cy="13258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07760" y="301752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90640" y="31546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Reinventing the wheel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90640" y="3493008"/>
            <a:ext cx="440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restarts from zero. No accumulated knowledge, no institutional memory.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8480" y="4754880"/>
            <a:ext cx="11064240" cy="777240"/>
          </a:xfrm>
          <a:prstGeom prst="rect">
            <a:avLst/>
          </a:prstGeom>
          <a:solidFill>
            <a:srgbClr val="0F172A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1360" y="48463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framework is the answer — a structured, AI-native approach to product design that scales with any team.</a:t>
            </a:r>
            <a:endParaRPr lang="en-US" sz="1600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F60585E-0D7C-C574-70CA-E7DA10B36C90}"/>
              </a:ext>
            </a:extLst>
          </p:cNvPr>
          <p:cNvGrpSpPr/>
          <p:nvPr/>
        </p:nvGrpSpPr>
        <p:grpSpPr>
          <a:xfrm>
            <a:off x="825500" y="2532380"/>
            <a:ext cx="9245600" cy="1638300"/>
            <a:chOff x="825500" y="2402840"/>
            <a:chExt cx="9245600" cy="1638300"/>
          </a:xfrm>
        </p:grpSpPr>
        <p:sp>
          <p:nvSpPr>
            <p:cNvPr id="4" name="Text 2"/>
            <p:cNvSpPr/>
            <p:nvPr/>
          </p:nvSpPr>
          <p:spPr>
            <a:xfrm>
              <a:off x="927100" y="2402840"/>
              <a:ext cx="9144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300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FRAMEWORK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825500" y="2595372"/>
              <a:ext cx="777240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5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Design Process</a:t>
              </a:r>
              <a:endParaRPr lang="en-US" sz="5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838200" y="358394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Six phases. Nine skill files. One coherent system.</a:t>
              </a:r>
              <a:endParaRPr lang="en-US" sz="16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545F414-6255-D018-3B13-30BD3B866DD8}"/>
              </a:ext>
            </a:extLst>
          </p:cNvPr>
          <p:cNvGrpSpPr/>
          <p:nvPr/>
        </p:nvGrpSpPr>
        <p:grpSpPr>
          <a:xfrm>
            <a:off x="8778240" y="1207008"/>
            <a:ext cx="1783080" cy="4443984"/>
            <a:chOff x="8778240" y="914400"/>
            <a:chExt cx="1783080" cy="4443984"/>
          </a:xfrm>
        </p:grpSpPr>
        <p:sp>
          <p:nvSpPr>
            <p:cNvPr id="7" name="Shape 5"/>
            <p:cNvSpPr/>
            <p:nvPr/>
          </p:nvSpPr>
          <p:spPr>
            <a:xfrm>
              <a:off x="8778240" y="914400"/>
              <a:ext cx="1783080" cy="329184"/>
            </a:xfrm>
            <a:prstGeom prst="rect">
              <a:avLst/>
            </a:prstGeom>
            <a:solidFill>
              <a:srgbClr val="22C55E">
                <a:alpha val="15000"/>
              </a:srgbClr>
            </a:solidFill>
            <a:ln w="12700">
              <a:solidFill>
                <a:srgbClr val="22C55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8869680" y="969264"/>
              <a:ext cx="16276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  </a:t>
              </a:r>
              <a:r>
                <a:rPr lang="en-US" sz="100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Discover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8778240" y="1737360"/>
              <a:ext cx="1783080" cy="329184"/>
            </a:xfrm>
            <a:prstGeom prst="rect">
              <a:avLst/>
            </a:prstGeom>
            <a:solidFill>
              <a:srgbClr val="8B5CF6">
                <a:alpha val="15000"/>
              </a:srgbClr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8869680" y="1792224"/>
              <a:ext cx="16276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8B5C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  </a:t>
              </a:r>
              <a:r>
                <a:rPr lang="en-US" sz="100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Define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778240" y="2560320"/>
              <a:ext cx="1783080" cy="329184"/>
            </a:xfrm>
            <a:prstGeom prst="rect">
              <a:avLst/>
            </a:prstGeom>
            <a:solidFill>
              <a:srgbClr val="F59E0B">
                <a:alpha val="15000"/>
              </a:srgbClr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8869680" y="2615184"/>
              <a:ext cx="16276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  </a:t>
              </a:r>
              <a:r>
                <a:rPr lang="en-US" sz="100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Ideate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8778240" y="3383280"/>
              <a:ext cx="1783080" cy="329184"/>
            </a:xfrm>
            <a:prstGeom prst="rect">
              <a:avLst/>
            </a:prstGeom>
            <a:solidFill>
              <a:srgbClr val="3B82F6">
                <a:alpha val="15000"/>
              </a:srgbClr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8869680" y="3438144"/>
              <a:ext cx="16276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04  </a:t>
              </a:r>
              <a:r>
                <a:rPr lang="en-US" sz="100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Prototype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8778240" y="4206240"/>
              <a:ext cx="1783080" cy="329184"/>
            </a:xfrm>
            <a:prstGeom prst="rect">
              <a:avLst/>
            </a:prstGeom>
            <a:solidFill>
              <a:srgbClr val="EF4444">
                <a:alpha val="15000"/>
              </a:srgbClr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8869680" y="4261104"/>
              <a:ext cx="16276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05  </a:t>
              </a:r>
              <a:r>
                <a:rPr lang="en-US" sz="100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Validate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8778240" y="5029200"/>
              <a:ext cx="1783080" cy="329184"/>
            </a:xfrm>
            <a:prstGeom prst="rect">
              <a:avLst/>
            </a:prstGeom>
            <a:solidFill>
              <a:srgbClr val="14B8A6">
                <a:alpha val="15000"/>
              </a:srgbClr>
            </a:solidFill>
            <a:ln w="12700">
              <a:solidFill>
                <a:srgbClr val="14B8A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8869680" y="5084064"/>
              <a:ext cx="16276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4B8A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06  </a:t>
              </a:r>
              <a:r>
                <a:rPr lang="en-US" sz="100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Deliver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67080" y="4114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PHILOSOPHY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think about AI in design 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13080" y="1656080"/>
            <a:ext cx="5394960" cy="3246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9460" y="20294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amplifies throughput.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59460" y="2750820"/>
            <a:ext cx="4937760" cy="215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that took days can be synthesized in minutes. Prototypes that needed a week can ship in hours. Documentation that was always skipped now gets written. AI removes the friction from the labor-intensive parts of design.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2360" y="1656080"/>
            <a:ext cx="5394960" cy="3246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28740" y="20294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provide judgment.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28740" y="2750820"/>
            <a:ext cx="4937760" cy="215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Taste, empathy, strategic thinking, stakeholder navigation, ethical consideration — these remain fundamentally human skills. AI generates options. You make decisions. The best designers wield AI as a power tool, not a replacement.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3080" y="5230368"/>
            <a:ext cx="11064240" cy="804672"/>
          </a:xfrm>
          <a:prstGeom prst="rect">
            <a:avLst/>
          </a:prstGeom>
          <a:solidFill>
            <a:srgbClr val="1E293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321808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designers will be those who wield AI as a power tool — not a replacement.</a:t>
            </a:r>
            <a:endParaRPr lang="en-US" sz="160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E9F1427C-87D0-0BC3-B552-25EBE2252A20}"/>
              </a:ext>
            </a:extLst>
          </p:cNvPr>
          <p:cNvSpPr/>
          <p:nvPr/>
        </p:nvSpPr>
        <p:spPr>
          <a:xfrm>
            <a:off x="511010" y="1656080"/>
            <a:ext cx="54864" cy="3246120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6D8B8EAD-58C7-DED0-4092-B495C0A2BCEC}"/>
              </a:ext>
            </a:extLst>
          </p:cNvPr>
          <p:cNvSpPr/>
          <p:nvPr/>
        </p:nvSpPr>
        <p:spPr>
          <a:xfrm>
            <a:off x="6183110" y="1656080"/>
            <a:ext cx="54864" cy="3246120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289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phases, end to end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115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has dedicated skill files, AI prompts, and Figma workspace pages.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080" y="1783080"/>
            <a:ext cx="356616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3080" y="1783080"/>
            <a:ext cx="3566160" cy="4572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596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5960" y="2304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5960" y="2806192"/>
            <a:ext cx="3108960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problem space through research, competitive analysis, and synthesis.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7840" y="1783080"/>
            <a:ext cx="356616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07840" y="1783080"/>
            <a:ext cx="3566160" cy="45720"/>
          </a:xfrm>
          <a:prstGeom prst="rect">
            <a:avLst/>
          </a:prstGeom>
          <a:solidFill>
            <a:srgbClr val="8B5C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9072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90720" y="2304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90720" y="2806192"/>
            <a:ext cx="3108960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problem clearly with HMW statements, journey maps, and design briefs.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02600" y="1783080"/>
            <a:ext cx="356616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02600" y="1783080"/>
            <a:ext cx="3566160" cy="4572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8548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85480" y="2304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85480" y="2806192"/>
            <a:ext cx="3108960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diverse design concepts using the Five-Direction method and AI prompts.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3080" y="4069080"/>
            <a:ext cx="356616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3080" y="4069080"/>
            <a:ext cx="3566160" cy="45720"/>
          </a:xfrm>
          <a:prstGeom prst="rect">
            <a:avLst/>
          </a:prstGeom>
          <a:solidFill>
            <a:srgbClr val="3B82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5960" y="4206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5960" y="4590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95960" y="5092192"/>
            <a:ext cx="3108960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functional prototypes, write UX copy, and run accessibility audits.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07840" y="4069080"/>
            <a:ext cx="356616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07840" y="4069080"/>
            <a:ext cx="3566160" cy="4572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90720" y="4206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490720" y="4590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490720" y="5092192"/>
            <a:ext cx="3108960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real users, synthesize findings, and prioritize by severity x frequency.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02600" y="4069080"/>
            <a:ext cx="356616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102600" y="4069080"/>
            <a:ext cx="3566160" cy="45720"/>
          </a:xfrm>
          <a:prstGeom prst="rect">
            <a:avLst/>
          </a:prstGeom>
          <a:solidFill>
            <a:srgbClr val="14B8A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85480" y="4206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285480" y="4590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285480" y="5092192"/>
            <a:ext cx="3108960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component specs, dev handoff packages, and design decision records.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7738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CHAINING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8929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phases so outputs become inputs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10466"/>
            <a:ext cx="9921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generates a Handoff Block — a structured summary Claude fills in that becomes the opening context for the next phase.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8316" y="1920240"/>
            <a:ext cx="1554480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8316" y="1920240"/>
            <a:ext cx="1554480" cy="4572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8044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8044" y="23042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2707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07104" y="1920240"/>
            <a:ext cx="1554480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07104" y="1920240"/>
            <a:ext cx="1554480" cy="45720"/>
          </a:xfrm>
          <a:prstGeom prst="rect">
            <a:avLst/>
          </a:prstGeom>
          <a:solidFill>
            <a:srgbClr val="8B5C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16832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6832" y="23042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75858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55892" y="1920240"/>
            <a:ext cx="1554480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55892" y="1920240"/>
            <a:ext cx="1554480" cy="4572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65620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65620" y="23042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24646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26982" y="1920240"/>
            <a:ext cx="1554480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26982" y="1920240"/>
            <a:ext cx="1554480" cy="45720"/>
          </a:xfrm>
          <a:prstGeom prst="rect">
            <a:avLst/>
          </a:prstGeom>
          <a:solidFill>
            <a:srgbClr val="3B82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36710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36710" y="23042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95736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75770" y="1920240"/>
            <a:ext cx="1554480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75770" y="1920240"/>
            <a:ext cx="1554480" cy="4572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385498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85498" y="23042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44524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224558" y="1920240"/>
            <a:ext cx="1554480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224558" y="1920240"/>
            <a:ext cx="1554480" cy="45720"/>
          </a:xfrm>
          <a:prstGeom prst="rect">
            <a:avLst/>
          </a:prstGeom>
          <a:solidFill>
            <a:srgbClr val="14B8A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334286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334286" y="23042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9756" y="3063240"/>
            <a:ext cx="1371600" cy="347472"/>
          </a:xfrm>
          <a:prstGeom prst="rect">
            <a:avLst/>
          </a:prstGeom>
          <a:solidFill>
            <a:srgbClr val="22C55E">
              <a:alpha val="12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9756" y="3090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Block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235556" y="2926080"/>
            <a:ext cx="0" cy="137160"/>
          </a:xfrm>
          <a:prstGeom prst="line">
            <a:avLst/>
          </a:prstGeom>
          <a:noFill/>
          <a:ln w="9525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498544" y="3063240"/>
            <a:ext cx="1371600" cy="347472"/>
          </a:xfrm>
          <a:prstGeom prst="rect">
            <a:avLst/>
          </a:prstGeom>
          <a:solidFill>
            <a:srgbClr val="8B5CF6">
              <a:alpha val="12000"/>
            </a:srgbClr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498544" y="3090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Block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184344" y="2926080"/>
            <a:ext cx="0" cy="137160"/>
          </a:xfrm>
          <a:prstGeom prst="line">
            <a:avLst/>
          </a:prstGeom>
          <a:noFill/>
          <a:ln w="9525">
            <a:solidFill>
              <a:srgbClr val="8B5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447332" y="3063240"/>
            <a:ext cx="1371600" cy="347472"/>
          </a:xfrm>
          <a:prstGeom prst="rect">
            <a:avLst/>
          </a:prstGeom>
          <a:solidFill>
            <a:srgbClr val="F59E0B">
              <a:alpha val="12000"/>
            </a:srgbClr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447332" y="3090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Block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133132" y="2926080"/>
            <a:ext cx="0" cy="137160"/>
          </a:xfrm>
          <a:prstGeom prst="line">
            <a:avLst/>
          </a:prstGeom>
          <a:noFill/>
          <a:ln w="9525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418422" y="3063240"/>
            <a:ext cx="1371600" cy="347472"/>
          </a:xfrm>
          <a:prstGeom prst="rect">
            <a:avLst/>
          </a:prstGeom>
          <a:solidFill>
            <a:srgbClr val="3B82F6">
              <a:alpha val="12000"/>
            </a:srgbClr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18422" y="3090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Block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104222" y="2926080"/>
            <a:ext cx="0" cy="137160"/>
          </a:xfrm>
          <a:prstGeom prst="line">
            <a:avLst/>
          </a:prstGeom>
          <a:noFill/>
          <a:ln w="9525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367210" y="3063240"/>
            <a:ext cx="1371600" cy="347472"/>
          </a:xfrm>
          <a:prstGeom prst="rect">
            <a:avLst/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367210" y="3090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Block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053010" y="2926080"/>
            <a:ext cx="0" cy="137160"/>
          </a:xfrm>
          <a:prstGeom prst="line">
            <a:avLst/>
          </a:prstGeom>
          <a:noFill/>
          <a:ln w="9525">
            <a:solidFill>
              <a:srgbClr val="EF444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0315998" y="3063240"/>
            <a:ext cx="1371600" cy="347472"/>
          </a:xfrm>
          <a:prstGeom prst="rect">
            <a:avLst/>
          </a:prstGeom>
          <a:solidFill>
            <a:srgbClr val="14B8A6">
              <a:alpha val="12000"/>
            </a:srgbClr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315998" y="3090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Block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1001798" y="2926080"/>
            <a:ext cx="0" cy="137160"/>
          </a:xfrm>
          <a:prstGeom prst="line">
            <a:avLst/>
          </a:prstGeom>
          <a:noFill/>
          <a:ln w="9525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84394" y="3787669"/>
            <a:ext cx="3566160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84394" y="3787669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67274" y="3943117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 loss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67274" y="4290589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carries full project context — personas, decisions, constraints — from phase to phase without re-briefing.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346060" y="3787669"/>
            <a:ext cx="3566160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346060" y="3787669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528940" y="3943117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workflow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528940" y="4290589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separate conversations become one coherent thread. The framework feels like a process, not a collection of tools.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207726" y="3787669"/>
            <a:ext cx="3566160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207726" y="3787669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390606" y="3943117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audit trail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8390606" y="4290589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handoff block is a structured record of decisions made. Paste them into Notion, Figma, or your project docs.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40080" y="5544293"/>
            <a:ext cx="10881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40080" y="5635733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close of each phase: ask Claude to generate a Handoff Block → store it → paste it as the first message of the next phase.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1590" y="4114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CHAINING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 Handoff Block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1231" y="121950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template Claude fills in at the close of each phase — paste it as the first message of the next.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6583680" cy="43708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4635" cy="4370832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4470" y="190195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Discover → Define Handoff Block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34470" y="23759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34470" y="2561943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[what we're designing]  ·  Users: [who]  ·  Goal: [what success looks like]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4470" y="29428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SUMMARY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934470" y="3128871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themes · Most critical pain points · Key user quotes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4470" y="35097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DEFINED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934470" y="3695799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role, primary goal, primary frustration — one row per persona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4470" y="40767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934470" y="4262727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opportunity areas with supporting evidence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4470" y="46436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34470" y="4829655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don't know yet that the next phase should answer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4470" y="52105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FOCUS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934470" y="5396583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problem to tackle first and why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0" y="1737360"/>
            <a:ext cx="4023360" cy="43708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47866" y="1901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900" dirty="0">
              <a:solidFill>
                <a:srgbClr val="14B8A6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47866" y="23774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98820" y="236829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phase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98820" y="248259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Claude: "Generate a Phase Handoff Block for this Discover session."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94170" y="2645914"/>
            <a:ext cx="0" cy="8229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198820" y="3486263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98820" y="3610683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your Figma AI Toolkit page, Notion doc, or project notes.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894170" y="3771376"/>
            <a:ext cx="0" cy="81201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747866" y="4574250"/>
            <a:ext cx="292608" cy="292608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47866" y="458339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98820" y="457425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next phase</a:t>
            </a:r>
            <a:endParaRPr lang="en-US" sz="1300" dirty="0"/>
          </a:p>
        </p:txBody>
      </p:sp>
      <p:sp>
        <p:nvSpPr>
          <p:cNvPr id="42" name="Text 35">
            <a:extLst>
              <a:ext uri="{FF2B5EF4-FFF2-40B4-BE49-F238E27FC236}">
                <a16:creationId xmlns:a16="http://schemas.microsoft.com/office/drawing/2014/main" id="{B62C237D-AF1D-F1B8-C3EC-980046C170DD}"/>
              </a:ext>
            </a:extLst>
          </p:cNvPr>
          <p:cNvSpPr/>
          <p:nvPr/>
        </p:nvSpPr>
        <p:spPr>
          <a:xfrm>
            <a:off x="7747866" y="5105126"/>
            <a:ext cx="3630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block as your first message. Claude confirms context and recommends where to start.</a:t>
            </a:r>
            <a:endParaRPr lang="en-US" sz="1000" dirty="0"/>
          </a:p>
        </p:txBody>
      </p:sp>
      <p:sp>
        <p:nvSpPr>
          <p:cNvPr id="43" name="Text 37">
            <a:extLst>
              <a:ext uri="{FF2B5EF4-FFF2-40B4-BE49-F238E27FC236}">
                <a16:creationId xmlns:a16="http://schemas.microsoft.com/office/drawing/2014/main" id="{80DC8306-4D72-13CF-63AE-358E60F07E47}"/>
              </a:ext>
            </a:extLst>
          </p:cNvPr>
          <p:cNvSpPr/>
          <p:nvPr/>
        </p:nvSpPr>
        <p:spPr>
          <a:xfrm>
            <a:off x="7747866" y="5606171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skill-chaining.md to your Claude Project so handoff block generation is always available.</a:t>
            </a:r>
            <a:endParaRPr lang="en-US" sz="1000" dirty="0"/>
          </a:p>
        </p:txBody>
      </p:sp>
      <p:sp>
        <p:nvSpPr>
          <p:cNvPr id="44" name="Shape 32">
            <a:extLst>
              <a:ext uri="{FF2B5EF4-FFF2-40B4-BE49-F238E27FC236}">
                <a16:creationId xmlns:a16="http://schemas.microsoft.com/office/drawing/2014/main" id="{7A3DF8AA-1F38-C592-FD41-D2203CF621BD}"/>
              </a:ext>
            </a:extLst>
          </p:cNvPr>
          <p:cNvSpPr/>
          <p:nvPr/>
        </p:nvSpPr>
        <p:spPr>
          <a:xfrm>
            <a:off x="7750366" y="3467480"/>
            <a:ext cx="292608" cy="292608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3">
            <a:extLst>
              <a:ext uri="{FF2B5EF4-FFF2-40B4-BE49-F238E27FC236}">
                <a16:creationId xmlns:a16="http://schemas.microsoft.com/office/drawing/2014/main" id="{6536AA90-F4CB-C5E2-A120-CE4CCD6FDC38}"/>
              </a:ext>
            </a:extLst>
          </p:cNvPr>
          <p:cNvSpPr/>
          <p:nvPr/>
        </p:nvSpPr>
        <p:spPr>
          <a:xfrm>
            <a:off x="7750366" y="347662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6" name="Shape 32">
            <a:extLst>
              <a:ext uri="{FF2B5EF4-FFF2-40B4-BE49-F238E27FC236}">
                <a16:creationId xmlns:a16="http://schemas.microsoft.com/office/drawing/2014/main" id="{AC844AA7-9724-DDFF-90A1-FE581206C0DA}"/>
              </a:ext>
            </a:extLst>
          </p:cNvPr>
          <p:cNvSpPr/>
          <p:nvPr/>
        </p:nvSpPr>
        <p:spPr>
          <a:xfrm>
            <a:off x="7760361" y="2345725"/>
            <a:ext cx="292608" cy="292608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696C3395-E916-0F39-9ED0-15EA38FB2E14}"/>
              </a:ext>
            </a:extLst>
          </p:cNvPr>
          <p:cNvSpPr/>
          <p:nvPr/>
        </p:nvSpPr>
        <p:spPr>
          <a:xfrm>
            <a:off x="7760361" y="2354869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1C04D645-CA73-4140-7ADA-34426A1A14BC}"/>
              </a:ext>
            </a:extLst>
          </p:cNvPr>
          <p:cNvSpPr/>
          <p:nvPr/>
        </p:nvSpPr>
        <p:spPr>
          <a:xfrm>
            <a:off x="7507452" y="1737359"/>
            <a:ext cx="54633" cy="4370831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37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289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AI leverage levels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115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 is tagged — so you know exactly where AI accelerates your work and where you lead.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080" y="1737360"/>
            <a:ext cx="3566160" cy="4434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3080" y="1737360"/>
            <a:ext cx="3566160" cy="4572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77672" y="1920240"/>
            <a:ext cx="82296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7672" y="19385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7672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the heavy lifting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7672" y="283464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Synthesis, generation, documentation. You review, refine, and direct. These phases benefit most from AI acceleration.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7672" y="3942080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7672" y="40335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at this level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77672" y="4280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7672" y="4554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7672" y="4829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Generation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7672" y="5103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7672" y="5377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7672" y="5652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Delivery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07840" y="1737360"/>
            <a:ext cx="3566160" cy="4434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07840" y="1737360"/>
            <a:ext cx="3566160" cy="4572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72432" y="1920240"/>
            <a:ext cx="8229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72432" y="19385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72432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 with structure and drafts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72432" y="283464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bring judgment, context, and strategic thinking. AI helps you draft and structure — but your decisions drive the outcome.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72432" y="3942080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72432" y="40335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at this level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72432" y="4280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72432" y="4554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Interviews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72432" y="4829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02600" y="1737360"/>
            <a:ext cx="3566160" cy="4434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102600" y="1737360"/>
            <a:ext cx="3566160" cy="4572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267192" y="1920240"/>
            <a:ext cx="82296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67192" y="19385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67192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Fundamentally human skills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67192" y="283464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Empathy, taste, stakeholder navigation, ethical consideration. AI supports but doesn't replace the core of what designers do.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267192" y="3942080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67192" y="40335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at this level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67192" y="4280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Inquiry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67192" y="4554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Building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67192" y="4829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Judgment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43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FILES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structured skill files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115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contains workflows, AI prompts, templates, and quality checklists.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080" y="173736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3080" y="1737360"/>
            <a:ext cx="3566160" cy="4572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0240" y="1847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0240" y="20482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0240" y="23957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user-research.md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0240" y="268833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0240" y="27066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07840" y="173736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07840" y="1737360"/>
            <a:ext cx="3566160" cy="4572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45000" y="1847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45000" y="20482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45000" y="23957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competitive-analysis.md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45000" y="268833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45000" y="27066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102600" y="173736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02600" y="1737360"/>
            <a:ext cx="3566160" cy="45720"/>
          </a:xfrm>
          <a:prstGeom prst="rect">
            <a:avLst/>
          </a:prstGeom>
          <a:solidFill>
            <a:srgbClr val="8B5C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39760" y="1847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39760" y="20482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39760" y="23957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problem-framing.md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39760" y="2688336"/>
            <a:ext cx="82296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39760" y="27066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Medium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3080" y="329184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13080" y="3291840"/>
            <a:ext cx="3566160" cy="4572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0240" y="3401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0240" y="36027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Generation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0240" y="39502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concept-generation.md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0240" y="424281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0240" y="42611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07840" y="329184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307840" y="3291840"/>
            <a:ext cx="3566160" cy="45720"/>
          </a:xfrm>
          <a:prstGeom prst="rect">
            <a:avLst/>
          </a:prstGeom>
          <a:solidFill>
            <a:srgbClr val="3B82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445000" y="3401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445000" y="36027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445000" y="39502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prototyping.md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45000" y="424281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445000" y="42611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102600" y="329184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102600" y="3291840"/>
            <a:ext cx="3566160" cy="4572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239760" y="3401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39760" y="36027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239760" y="39502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usability-testing.md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239760" y="424281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239760" y="42611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13080" y="484632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13080" y="4846320"/>
            <a:ext cx="3566160" cy="45720"/>
          </a:xfrm>
          <a:prstGeom prst="rect">
            <a:avLst/>
          </a:prstGeom>
          <a:solidFill>
            <a:srgbClr val="14B8A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0240" y="4956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50240" y="51572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Delivery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50240" y="55046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design-delivery.md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50240" y="579729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50240" y="581558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307840" y="484632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307840" y="4846320"/>
            <a:ext cx="3566160" cy="4572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445000" y="4956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03/06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445000" y="51572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Systems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4445000" y="55046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design-systems.md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445000" y="579729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445000" y="581558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102600" y="484632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102600" y="4846320"/>
            <a:ext cx="3566160" cy="45720"/>
          </a:xfrm>
          <a:prstGeom prst="rect">
            <a:avLst/>
          </a:prstGeom>
          <a:solidFill>
            <a:srgbClr val="8B5C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239760" y="4956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ALL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239760" y="51572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Playbook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8239760" y="55046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figma-playbook.md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239760" y="579729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239760" y="581558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16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TEMPLATE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Figma project template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115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10-page file you duplicate per project — structured, phase-by-phase.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201168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53187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metadata, team, and phase overview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80360" y="187452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80360" y="1874520"/>
            <a:ext cx="201168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44952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44952" y="253187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overview of the full Discover to Deliver flow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187452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20640" y="1874520"/>
            <a:ext cx="201168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85232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Discover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85232" y="253187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findings, personas, competitive matrix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60920" y="187452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60920" y="1874520"/>
            <a:ext cx="201168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25512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Define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25512" y="253187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maps, design briefs, requirements boards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01200" y="187452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601200" y="1874520"/>
            <a:ext cx="20116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765792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Ideate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765792" y="253187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cards, wireframe scaffolding, pattern refs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97764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0080" y="3977640"/>
            <a:ext cx="20116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04672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Prototype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4672" y="463499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specs, screen layouts, all states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80360" y="397764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880360" y="3977640"/>
            <a:ext cx="201168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044952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Validate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044952" y="463499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matrices, issue severity cards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20640" y="397764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120640" y="3977640"/>
            <a:ext cx="201168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85232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Deliver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85232" y="463499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Redlines, component docs, decision records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60920" y="397764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360920" y="3977640"/>
            <a:ext cx="201168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525512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525512" y="463499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reference, color, type, spacing, radius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601200" y="397764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601200" y="3977640"/>
            <a:ext cx="201168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765792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765792" y="463499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Copy-ready prompts and skill file references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4380" y="4114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DESIGN TOOLS</a:t>
            </a:r>
            <a:endParaRPr lang="en-US" sz="900" dirty="0">
              <a:solidFill>
                <a:srgbClr val="14B8A6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AI-powered design tools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1510" y="123901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the web at quinrobinson.github.io/Agentic-Product-Design-Framework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5603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4864" cy="3931920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48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design-process-system.jsx</a:t>
            </a:r>
            <a:endParaRPr lang="en-US" sz="900" dirty="0">
              <a:solidFill>
                <a:srgbClr val="14B8A6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Process System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076448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phase-by-phase system with AI prompts, skill docs, templates, and tool recommendations per phase.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4919472"/>
            <a:ext cx="685800" cy="219456"/>
          </a:xfrm>
          <a:prstGeom prst="rect">
            <a:avLst/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800" dirty="0">
              <a:solidFill>
                <a:srgbClr val="14B8A6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429000" y="1874520"/>
            <a:ext cx="25603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29000" y="1874520"/>
            <a:ext cx="54864" cy="3931920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11880" y="2048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AIBriefGenerator.jsx</a:t>
            </a:r>
            <a:endParaRPr lang="en-US" sz="900" dirty="0">
              <a:solidFill>
                <a:srgbClr val="14B8A6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1188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 Generator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11880" y="3076448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form that turns project context into a ready-to-paste Claude brief. Replaces the blank-page start.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11880" y="4919472"/>
            <a:ext cx="685800" cy="219456"/>
          </a:xfrm>
          <a:prstGeom prst="rect">
            <a:avLst/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11880" y="49377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800" dirty="0">
              <a:solidFill>
                <a:srgbClr val="14B8A6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17920" y="1874520"/>
            <a:ext cx="25603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1874520"/>
            <a:ext cx="54864" cy="3931920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0" y="2048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BrandStyleBuilder.jsx</a:t>
            </a:r>
            <a:endParaRPr lang="en-US" sz="900" dirty="0">
              <a:solidFill>
                <a:srgbClr val="14B8A6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Style Builder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3076448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client's visual identity in minutes — tunable tokens, live previews, presets, and AI export.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4919472"/>
            <a:ext cx="685800" cy="219456"/>
          </a:xfrm>
          <a:prstGeom prst="rect">
            <a:avLst/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49377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800" dirty="0">
              <a:solidFill>
                <a:srgbClr val="14B8A6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006840" y="1874520"/>
            <a:ext cx="25603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006840" y="1874520"/>
            <a:ext cx="54864" cy="3931920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89720" y="2048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DesignSystemAudit.jsx</a:t>
            </a:r>
            <a:endParaRPr lang="en-US" sz="900" dirty="0">
              <a:solidFill>
                <a:srgbClr val="14B8A6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918972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Audit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89720" y="3076448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audit checklist from M3, Atlassian, Carbon, and Apple HIG — with Figma-ready prompts.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89720" y="4919472"/>
            <a:ext cx="685800" cy="219456"/>
          </a:xfrm>
          <a:prstGeom prst="rect">
            <a:avLst/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189720" y="49377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800" dirty="0">
              <a:solidFill>
                <a:srgbClr val="14B8A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460E62E-9D82-232A-D32F-87C7810352A4}"/>
              </a:ext>
            </a:extLst>
          </p:cNvPr>
          <p:cNvGrpSpPr/>
          <p:nvPr/>
        </p:nvGrpSpPr>
        <p:grpSpPr>
          <a:xfrm>
            <a:off x="914400" y="2237740"/>
            <a:ext cx="9271000" cy="2397760"/>
            <a:chOff x="914400" y="2047240"/>
            <a:chExt cx="9271000" cy="2397760"/>
          </a:xfrm>
        </p:grpSpPr>
        <p:sp>
          <p:nvSpPr>
            <p:cNvPr id="4" name="Text 2"/>
            <p:cNvSpPr/>
            <p:nvPr/>
          </p:nvSpPr>
          <p:spPr>
            <a:xfrm>
              <a:off x="1041400" y="2047240"/>
              <a:ext cx="9144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300" dirty="0">
                  <a:solidFill>
                    <a:srgbClr val="14B8A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GETTING STARTED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914400" y="2176272"/>
              <a:ext cx="8229600" cy="1828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5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How to Use</a:t>
              </a:r>
              <a:endParaRPr lang="en-US" sz="5200" dirty="0"/>
            </a:p>
            <a:p>
              <a:pPr marL="0" indent="0">
                <a:buNone/>
              </a:pPr>
              <a:r>
                <a:rPr lang="en-US" sz="5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Framework</a:t>
              </a:r>
              <a:endParaRPr lang="en-US" sz="5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914400" y="3987800"/>
              <a:ext cx="6400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practical guide for teams and individuals.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ickoff Prompt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14 / 21</a:t>
            </a:r>
            <a:endParaRPr lang="en-US" sz="900" dirty="0"/>
          </a:p>
        </p:txBody>
      </p:sp>
      <p:sp>
        <p:nvSpPr>
          <p:cNvPr id="3" name="Label"/>
          <p:cNvSpPr/>
          <p:nvPr/>
        </p:nvSpPr>
        <p:spPr>
          <a:xfrm>
            <a:off x="77372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</a:rPr>
              <a:t>START HERE</a:t>
            </a:r>
            <a:endParaRPr lang="en-US" sz="900" dirty="0"/>
          </a:p>
        </p:txBody>
      </p:sp>
      <p:sp>
        <p:nvSpPr>
          <p:cNvPr id="4" name="Headline"/>
          <p:cNvSpPr/>
          <p:nvPr/>
        </p:nvSpPr>
        <p:spPr>
          <a:xfrm>
            <a:off x="685800" y="59436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</a:rPr>
              <a:t>The Kickoff Prompt</a:t>
            </a:r>
            <a:endParaRPr lang="en-US" sz="3600" dirty="0"/>
          </a:p>
        </p:txBody>
      </p:sp>
      <p:sp>
        <p:nvSpPr>
          <p:cNvPr id="5" name="Sub"/>
          <p:cNvSpPr/>
          <p:nvPr/>
        </p:nvSpPr>
        <p:spPr>
          <a:xfrm>
            <a:off x="685800" y="1222720"/>
            <a:ext cx="10049608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</a:rPr>
              <a:t>Copy this block into Claude before uploading any skill file. Claude orients itself, asks four questions, and routes you to the right starting point.</a:t>
            </a:r>
            <a:endParaRPr lang="en-US" sz="1300" dirty="0"/>
          </a:p>
        </p:txBody>
      </p:sp>
      <p:sp>
        <p:nvSpPr>
          <p:cNvPr id="6" name="Questions"/>
          <p:cNvSpPr/>
          <p:nvPr/>
        </p:nvSpPr>
        <p:spPr>
          <a:xfrm>
            <a:off x="501168" y="1788360"/>
            <a:ext cx="5486400" cy="4077181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/>
        </p:spPr>
        <p:txBody>
          <a:bodyPr lIns="274638" tIns="274638" rIns="274638" bIns="274638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b="1" kern="0" spc="200" dirty="0">
                <a:solidFill>
                  <a:srgbClr val="14B8A6"/>
                </a:solidFill>
                <a:latin typeface="Calibri" pitchFamily="34" charset="0"/>
              </a:rPr>
              <a:t>FOUR QUESTIONS CLAUDE WILL ASK</a:t>
            </a:r>
            <a:endParaRPr lang="en-US" sz="8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</a:rPr>
              <a:t>01  What type of project is this?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New product, feature, redesign, internal tool, client work</a:t>
            </a:r>
            <a:endParaRPr lang="en-US" sz="10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</a:rPr>
              <a:t>02  What phase are you entering?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Discover / Define / Ideate / Prototype / Validate / Deliver</a:t>
            </a:r>
            <a:endParaRPr lang="en-US" sz="10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</a:rPr>
              <a:t>03  What do you have so far?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Nothing yet / a brief / brief + research / existing designs</a:t>
            </a:r>
            <a:endParaRPr lang="en-US" sz="10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</a:rPr>
              <a:t>04  Are you working solo or with a team?</a:t>
            </a:r>
            <a:endParaRPr lang="en-US" sz="11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b="1" kern="0" spc="200" dirty="0">
                <a:solidFill>
                  <a:srgbClr val="14B8A6"/>
                </a:solidFill>
                <a:latin typeface="Calibri" pitchFamily="34" charset="0"/>
              </a:rPr>
              <a:t>CLAUDE RESPONDS WITH</a:t>
            </a:r>
            <a:endParaRPr lang="en-US" sz="8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</a:rPr>
              <a:t>→  Recommended starting phase + reason why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</a:rPr>
              <a:t>→  The exact skill file to upload next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</a:rPr>
              <a:t>→  A specific first deliverable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</a:rPr>
              <a:t>→  One prompt you can use right now</a:t>
            </a:r>
            <a:endParaRPr lang="en-US" sz="1000" dirty="0"/>
          </a:p>
        </p:txBody>
      </p:sp>
      <p:sp>
        <p:nvSpPr>
          <p:cNvPr id="7" name="CodeBlock"/>
          <p:cNvSpPr/>
          <p:nvPr/>
        </p:nvSpPr>
        <p:spPr>
          <a:xfrm>
            <a:off x="6216168" y="1788360"/>
            <a:ext cx="5486400" cy="4077181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/>
        </p:spPr>
        <p:txBody>
          <a:bodyPr lIns="274638" tIns="274638" rIns="274638" bIns="274638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b="1" kern="0" spc="200" dirty="0">
                <a:solidFill>
                  <a:srgbClr val="14B8A6"/>
                </a:solidFill>
                <a:latin typeface="Courier New" pitchFamily="49" charset="0"/>
              </a:rPr>
              <a:t>KICKOFF PROMPT  —  COPY &amp; PASTE INTO CLAUDE</a:t>
            </a:r>
            <a:endParaRPr lang="en-US" sz="8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49" charset="0"/>
              </a:rPr>
              <a:t>You are a UX design assistant trained on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49" charset="0"/>
              </a:rPr>
              <a:t>the AI x UX Product Design Framework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49" charset="0"/>
              </a:rPr>
              <a:t>— a six-phase system (Discover to Deliver)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49" charset="0"/>
              </a:rPr>
              <a:t>with skill files, Figma templates, and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49" charset="0"/>
              </a:rPr>
              <a:t>AI prompts for each phase.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49" charset="0"/>
              </a:rPr>
              <a:t>Ask me these four questions, then respond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49" charset="0"/>
              </a:rPr>
              <a:t>with: starting phase + reason, the exact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49" charset="0"/>
              </a:rPr>
              <a:t>skill file to upload, a specific first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49" charset="0"/>
              </a:rPr>
              <a:t>deliverable, and one prompt to use now.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49" charset="0"/>
              </a:rPr>
              <a:t>Full prompt in README.md (Quick Start)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49" charset="0"/>
              </a:rPr>
              <a:t>or Figma template → AI Toolkit page</a:t>
            </a:r>
            <a:endParaRPr lang="en-US" sz="9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D73D590-D1A5-6400-5706-D5EBEAB0EC61}"/>
              </a:ext>
            </a:extLst>
          </p:cNvPr>
          <p:cNvSpPr/>
          <p:nvPr/>
        </p:nvSpPr>
        <p:spPr>
          <a:xfrm>
            <a:off x="501166" y="1794789"/>
            <a:ext cx="54864" cy="4077181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2E74DFE6-1509-F68A-CF3C-D18F8634E07B}"/>
              </a:ext>
            </a:extLst>
          </p:cNvPr>
          <p:cNvSpPr/>
          <p:nvPr/>
        </p:nvSpPr>
        <p:spPr>
          <a:xfrm>
            <a:off x="6204433" y="1788360"/>
            <a:ext cx="54864" cy="4077181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670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framework with Claude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2780" y="12115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to get AI-powered design work flowing on any project.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080" y="1737360"/>
            <a:ext cx="53949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3080" y="173736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5960" y="1874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>
              <a:solidFill>
                <a:srgbClr val="0F172A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95960" y="232257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Kickoff Prompt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5960" y="28244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Kickoff Prompt from the README or Figma AI Toolkit page and paste it into a new Claude conversation. No skill file needed yet.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2360" y="1737360"/>
            <a:ext cx="53949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82360" y="173736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65240" y="1874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>
              <a:solidFill>
                <a:srgbClr val="0F172A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65240" y="232257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Claude Project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65240" y="28244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dedicated Project in Claude.ai and upload the skill file Claude recommended. This gives Claude persistent context across all your sessions.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3080" y="4069080"/>
            <a:ext cx="53949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13080" y="406908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5960" y="4206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>
              <a:solidFill>
                <a:srgbClr val="0F172A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5960" y="465429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project context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5960" y="51562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Claude what you're building, who it's for, and any constraints. Pin this as a Project instruction so Claude stays informed across every session.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82360" y="4069080"/>
            <a:ext cx="53949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82360" y="406908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65240" y="4206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>
              <a:solidFill>
                <a:srgbClr val="0F172A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65240" y="465429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 phases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65240" y="51562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prompts and templates in each skill file. Claude follows the structured workflows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97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MCP INTEGRATION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executes design work directly in Figma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2780" y="12242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Figma Playbook maps every deliverable to concrete Figma actions Claude executes via MCP.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080" y="1874520"/>
            <a:ext cx="3566160" cy="20116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3080" y="1874520"/>
            <a:ext cx="3566160" cy="4572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7672" y="20116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7672" y="24048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findings boards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7672" y="2834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cards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7672" y="32644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matrices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07840" y="1874520"/>
            <a:ext cx="3566160" cy="20116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07840" y="1874520"/>
            <a:ext cx="3566160" cy="45720"/>
          </a:xfrm>
          <a:prstGeom prst="rect">
            <a:avLst/>
          </a:prstGeom>
          <a:solidFill>
            <a:srgbClr val="8B5C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72432" y="20116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72432" y="24048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maps with emotion curves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72432" y="2834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briefs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72432" y="32644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boards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02600" y="1874520"/>
            <a:ext cx="3566160" cy="20116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02600" y="1874520"/>
            <a:ext cx="3566160" cy="4572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67192" y="20116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67192" y="24048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cards (5 directions)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67192" y="2834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scaffolding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67192" y="32644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references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3080" y="4114800"/>
            <a:ext cx="3566160" cy="20116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13080" y="4114800"/>
            <a:ext cx="3566160" cy="45720"/>
          </a:xfrm>
          <a:prstGeom prst="rect">
            <a:avLst/>
          </a:prstGeom>
          <a:solidFill>
            <a:srgbClr val="3B82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7672" y="42519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7672" y="46451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with variants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7672" y="5074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layouts + all states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7672" y="55046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variables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07840" y="4114800"/>
            <a:ext cx="3566160" cy="20116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307840" y="4114800"/>
            <a:ext cx="3566160" cy="4572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72432" y="42519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72432" y="46451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matrices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72432" y="5074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severity cards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72432" y="55046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eval boards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02600" y="4114800"/>
            <a:ext cx="3566160" cy="20116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102600" y="4114800"/>
            <a:ext cx="3566160" cy="45720"/>
          </a:xfrm>
          <a:prstGeom prst="rect">
            <a:avLst/>
          </a:prstGeom>
          <a:solidFill>
            <a:srgbClr val="14B8A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67192" y="42519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67192" y="46451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annotations + redlines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67192" y="5074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doc frames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67192" y="55046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record cards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67080" y="4114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new project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2780" y="123901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to kick off any engagement with the framework.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080" y="1737360"/>
            <a:ext cx="329184" cy="329184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3080" y="175564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7672" y="2066544"/>
            <a:ext cx="0" cy="4572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16000" y="17282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the Figma template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16000" y="190652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Duplicate on the AI x UX Design Process Template. Rename it for your project.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3080" y="2542032"/>
            <a:ext cx="329184" cy="329184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3080" y="25603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7672" y="2871216"/>
            <a:ext cx="0" cy="4572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16000" y="2532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Cover page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16000" y="271119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project name, client name, date, and lead designer to the Cover page metadata.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3080" y="3346704"/>
            <a:ext cx="329184" cy="329184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3080" y="3364992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7672" y="3675888"/>
            <a:ext cx="0" cy="4572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1600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Claude Project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16000" y="35158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relevant skill files. Add project context so Claude stays informed every session.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3080" y="4151376"/>
            <a:ext cx="329184" cy="329184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3080" y="416966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7672" y="4480560"/>
            <a:ext cx="0" cy="4572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16000" y="4142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phase by phase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15999" y="4320540"/>
            <a:ext cx="53685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through Discover to Define to Ideate to Prototype to Validate to Deliver at your pace.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3080" y="4956048"/>
            <a:ext cx="329184" cy="329184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3080" y="497433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7672" y="5285232"/>
            <a:ext cx="0" cy="4572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16000" y="49469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the Design System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15999" y="5125212"/>
            <a:ext cx="53685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Figma page 07, update the token reference for your client's brand and design language.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3080" y="5760720"/>
            <a:ext cx="329184" cy="329184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3080" y="577900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16000" y="57515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interactive artifacts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16000" y="5929884"/>
            <a:ext cx="53685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design-process-system.jsx or design-tokens-system.jsx in Claude for live previewing.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66560" y="1691640"/>
            <a:ext cx="4754880" cy="44805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766560" y="1691640"/>
            <a:ext cx="54864" cy="4480560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76440" y="18745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</a:t>
            </a:r>
            <a:endParaRPr lang="en-US" sz="1000" dirty="0">
              <a:solidFill>
                <a:srgbClr val="14B8A6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7076440" y="21945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skill files in your Claude Project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076440" y="2880360"/>
            <a:ext cx="4206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skill files live in a Claude Project, Claude references them automatically in every session. No re-uploading. No re-explaining. Just describe what you need and which phase you're in.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076440" y="4526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fastest path to AI-assisted design at scale.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670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CRAFT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best from Claude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2780" y="12115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practices that consistently improve Claude's output quality.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5661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18470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>
              <a:solidFill>
                <a:srgbClr val="0F172A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04672" y="22494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about context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68833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product, the user, the phase, and the goal. The more Claude knows, the better it performs.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737360"/>
            <a:ext cx="35661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34840" y="1737360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99432" y="18470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>
              <a:solidFill>
                <a:srgbClr val="0F172A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99432" y="22494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[BRACKETS] as placeholders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99432" y="268833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skill file prompts use [BRACKETS]. Replace them with your specifics before sending.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737360"/>
            <a:ext cx="35661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0" y="1737360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94192" y="18470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>
              <a:solidFill>
                <a:srgbClr val="0F172A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94192" y="22494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structured output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94192" y="268833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tables, ranked lists, briefs with specific sections. Structure makes output immediately usable.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069080"/>
            <a:ext cx="35661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" y="4069080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4672" y="41788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>
              <a:solidFill>
                <a:srgbClr val="0F172A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804672" y="45811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Iterate, don't restart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502005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'make it more concise' or 'add a section on X' rather than re-prompting from scratch.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34840" y="4069080"/>
            <a:ext cx="35661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34840" y="4069080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99432" y="41788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>
              <a:solidFill>
                <a:srgbClr val="0F172A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99432" y="45811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skill files as system prompts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99432" y="502005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Uploading a skill file gives Claude a structured role with established workflows for that phase.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4069080"/>
            <a:ext cx="35661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229600" y="4069080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394192" y="41788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>
              <a:solidFill>
                <a:srgbClr val="0F172A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8394192" y="45811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with your judgment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94192" y="502005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drafts, you decide. Every output needs your expert eye before sharing with stakeholders.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0664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and modifying skills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43584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plain Markdown — easy to edit, extend, and version.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5355" y="2304288"/>
            <a:ext cx="5120640" cy="2514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5355" y="2304288"/>
            <a:ext cx="5120640" cy="45720"/>
          </a:xfrm>
          <a:prstGeom prst="rect">
            <a:avLst/>
          </a:prstGeom>
          <a:solidFill>
            <a:srgbClr val="3B82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8235" y="2468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frontmatter format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8235" y="27889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8235" y="30723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skill-name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8235" y="33558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 XX -- Phase Name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8235" y="36393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One-line description.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8235" y="39227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ai_leverage: high | medium | low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8235" y="42062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57515" y="19476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rules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57515" y="2304288"/>
            <a:ext cx="50292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57515" y="2304288"/>
            <a:ext cx="502920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22107" y="23774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structured templates with clear [PLACEHOLDERS]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57515" y="3145536"/>
            <a:ext cx="50292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57515" y="3145536"/>
            <a:ext cx="502920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22107" y="32186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quality checklist at the end of every skill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57515" y="3986784"/>
            <a:ext cx="50292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57515" y="3986784"/>
            <a:ext cx="502920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22107" y="405993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skills actionable — workflows, not theory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57515" y="4828032"/>
            <a:ext cx="50292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57515" y="4828032"/>
            <a:ext cx="502920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22107" y="490118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frontmatter format: name, phase, description, ai_leverage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2239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4880" y="137160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4880" y="1371600"/>
            <a:ext cx="45720" cy="5486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2040" y="14264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File</a:t>
            </a:r>
            <a:endParaRPr 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92040" y="16367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UX Design Process Template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36000" y="1636776"/>
            <a:ext cx="1513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per project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5600" y="137160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5600" y="1371600"/>
            <a:ext cx="45720" cy="54864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52760" y="14264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352760" y="16367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user-research.md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59000" y="16367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000" dirty="0"/>
          </a:p>
        </p:txBody>
      </p:sp>
      <p:sp>
        <p:nvSpPr>
          <p:cNvPr id="15" name="Shape 3"/>
          <p:cNvSpPr/>
          <p:nvPr/>
        </p:nvSpPr>
        <p:spPr>
          <a:xfrm>
            <a:off x="454880" y="192024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4"/>
          <p:cNvSpPr/>
          <p:nvPr/>
        </p:nvSpPr>
        <p:spPr>
          <a:xfrm>
            <a:off x="454880" y="1920240"/>
            <a:ext cx="45720" cy="54864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5"/>
          <p:cNvSpPr/>
          <p:nvPr/>
        </p:nvSpPr>
        <p:spPr>
          <a:xfrm>
            <a:off x="592040" y="1975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21C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01</a:t>
            </a:r>
            <a:endParaRPr lang="en-US" sz="700" dirty="0">
              <a:solidFill>
                <a:srgbClr val="21C55D"/>
              </a:solidFill>
            </a:endParaRPr>
          </a:p>
        </p:txBody>
      </p:sp>
      <p:sp>
        <p:nvSpPr>
          <p:cNvPr id="18" name="Text 6"/>
          <p:cNvSpPr/>
          <p:nvPr/>
        </p:nvSpPr>
        <p:spPr>
          <a:xfrm>
            <a:off x="592040" y="21854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competitive-analysis.md</a:t>
            </a:r>
            <a:endParaRPr lang="en-US" sz="1200" dirty="0"/>
          </a:p>
        </p:txBody>
      </p:sp>
      <p:sp>
        <p:nvSpPr>
          <p:cNvPr id="19" name="Text 7"/>
          <p:cNvSpPr/>
          <p:nvPr/>
        </p:nvSpPr>
        <p:spPr>
          <a:xfrm>
            <a:off x="4336000" y="2185416"/>
            <a:ext cx="1513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000" dirty="0"/>
          </a:p>
        </p:txBody>
      </p:sp>
      <p:sp>
        <p:nvSpPr>
          <p:cNvPr id="20" name="Shape 8"/>
          <p:cNvSpPr/>
          <p:nvPr/>
        </p:nvSpPr>
        <p:spPr>
          <a:xfrm>
            <a:off x="6215600" y="192024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9"/>
          <p:cNvSpPr/>
          <p:nvPr/>
        </p:nvSpPr>
        <p:spPr>
          <a:xfrm>
            <a:off x="6215600" y="1920240"/>
            <a:ext cx="45720" cy="548640"/>
          </a:xfrm>
          <a:prstGeom prst="rect">
            <a:avLst/>
          </a:prstGeom>
          <a:solidFill>
            <a:srgbClr val="8B5C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0"/>
          <p:cNvSpPr/>
          <p:nvPr/>
        </p:nvSpPr>
        <p:spPr>
          <a:xfrm>
            <a:off x="6352760" y="1975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02</a:t>
            </a:r>
            <a:endParaRPr lang="en-US" sz="700" dirty="0">
              <a:solidFill>
                <a:srgbClr val="8B5CF6"/>
              </a:solidFill>
            </a:endParaRPr>
          </a:p>
        </p:txBody>
      </p:sp>
      <p:sp>
        <p:nvSpPr>
          <p:cNvPr id="23" name="Text 11"/>
          <p:cNvSpPr/>
          <p:nvPr/>
        </p:nvSpPr>
        <p:spPr>
          <a:xfrm>
            <a:off x="6352760" y="21854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problem-framing.md</a:t>
            </a:r>
            <a:endParaRPr lang="en-US" sz="1200" dirty="0"/>
          </a:p>
        </p:txBody>
      </p:sp>
      <p:sp>
        <p:nvSpPr>
          <p:cNvPr id="24" name="Text 12"/>
          <p:cNvSpPr/>
          <p:nvPr/>
        </p:nvSpPr>
        <p:spPr>
          <a:xfrm>
            <a:off x="10559000" y="21854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000" dirty="0"/>
          </a:p>
        </p:txBody>
      </p:sp>
      <p:sp>
        <p:nvSpPr>
          <p:cNvPr id="25" name="Shape 3"/>
          <p:cNvSpPr/>
          <p:nvPr/>
        </p:nvSpPr>
        <p:spPr>
          <a:xfrm>
            <a:off x="454880" y="246888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4"/>
          <p:cNvSpPr/>
          <p:nvPr/>
        </p:nvSpPr>
        <p:spPr>
          <a:xfrm>
            <a:off x="454880" y="2468880"/>
            <a:ext cx="45720" cy="54864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5"/>
          <p:cNvSpPr/>
          <p:nvPr/>
        </p:nvSpPr>
        <p:spPr>
          <a:xfrm>
            <a:off x="592040" y="2523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6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03</a:t>
            </a:r>
            <a:endParaRPr lang="en-US" sz="700" dirty="0">
              <a:solidFill>
                <a:srgbClr val="F69E0B"/>
              </a:solidFill>
            </a:endParaRPr>
          </a:p>
        </p:txBody>
      </p:sp>
      <p:sp>
        <p:nvSpPr>
          <p:cNvPr id="28" name="Text 6"/>
          <p:cNvSpPr/>
          <p:nvPr/>
        </p:nvSpPr>
        <p:spPr>
          <a:xfrm>
            <a:off x="592040" y="27340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concept-generation.md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4336000" y="2734056"/>
            <a:ext cx="1513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000" dirty="0"/>
          </a:p>
        </p:txBody>
      </p:sp>
      <p:sp>
        <p:nvSpPr>
          <p:cNvPr id="30" name="Shape 8"/>
          <p:cNvSpPr/>
          <p:nvPr/>
        </p:nvSpPr>
        <p:spPr>
          <a:xfrm>
            <a:off x="6215600" y="246888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9"/>
          <p:cNvSpPr/>
          <p:nvPr/>
        </p:nvSpPr>
        <p:spPr>
          <a:xfrm>
            <a:off x="6215600" y="2468880"/>
            <a:ext cx="45720" cy="54864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0"/>
          <p:cNvSpPr/>
          <p:nvPr/>
        </p:nvSpPr>
        <p:spPr>
          <a:xfrm>
            <a:off x="6352760" y="2523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6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03</a:t>
            </a:r>
            <a:endParaRPr lang="en-US" sz="700" dirty="0">
              <a:solidFill>
                <a:srgbClr val="F69E0B"/>
              </a:solidFill>
            </a:endParaRPr>
          </a:p>
        </p:txBody>
      </p:sp>
      <p:sp>
        <p:nvSpPr>
          <p:cNvPr id="33" name="Text 11"/>
          <p:cNvSpPr/>
          <p:nvPr/>
        </p:nvSpPr>
        <p:spPr>
          <a:xfrm>
            <a:off x="6352760" y="27340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visual-design-execution.md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10559000" y="273405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000" dirty="0"/>
          </a:p>
        </p:txBody>
      </p:sp>
      <p:sp>
        <p:nvSpPr>
          <p:cNvPr id="35" name="Shape 3"/>
          <p:cNvSpPr/>
          <p:nvPr/>
        </p:nvSpPr>
        <p:spPr>
          <a:xfrm>
            <a:off x="454880" y="301752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4"/>
          <p:cNvSpPr/>
          <p:nvPr/>
        </p:nvSpPr>
        <p:spPr>
          <a:xfrm>
            <a:off x="454880" y="3017520"/>
            <a:ext cx="45720" cy="548640"/>
          </a:xfrm>
          <a:prstGeom prst="rect">
            <a:avLst/>
          </a:prstGeom>
          <a:solidFill>
            <a:srgbClr val="3B82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5"/>
          <p:cNvSpPr/>
          <p:nvPr/>
        </p:nvSpPr>
        <p:spPr>
          <a:xfrm>
            <a:off x="592040" y="30723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04</a:t>
            </a:r>
            <a:endParaRPr lang="en-US" sz="700" dirty="0">
              <a:solidFill>
                <a:srgbClr val="3B82F6"/>
              </a:solidFill>
            </a:endParaRPr>
          </a:p>
        </p:txBody>
      </p:sp>
      <p:sp>
        <p:nvSpPr>
          <p:cNvPr id="38" name="Text 6"/>
          <p:cNvSpPr/>
          <p:nvPr/>
        </p:nvSpPr>
        <p:spPr>
          <a:xfrm>
            <a:off x="592040" y="32826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prototyping.md</a:t>
            </a:r>
            <a:endParaRPr lang="en-US" sz="1200" dirty="0"/>
          </a:p>
        </p:txBody>
      </p:sp>
      <p:sp>
        <p:nvSpPr>
          <p:cNvPr id="39" name="Text 7"/>
          <p:cNvSpPr/>
          <p:nvPr/>
        </p:nvSpPr>
        <p:spPr>
          <a:xfrm>
            <a:off x="4336000" y="3282696"/>
            <a:ext cx="1513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000" dirty="0"/>
          </a:p>
        </p:txBody>
      </p:sp>
      <p:sp>
        <p:nvSpPr>
          <p:cNvPr id="40" name="Shape 8"/>
          <p:cNvSpPr/>
          <p:nvPr/>
        </p:nvSpPr>
        <p:spPr>
          <a:xfrm>
            <a:off x="6215600" y="301752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9"/>
          <p:cNvSpPr/>
          <p:nvPr/>
        </p:nvSpPr>
        <p:spPr>
          <a:xfrm>
            <a:off x="6215600" y="3017520"/>
            <a:ext cx="45720" cy="548640"/>
          </a:xfrm>
          <a:prstGeom prst="rect">
            <a:avLst/>
          </a:prstGeom>
          <a:solidFill>
            <a:srgbClr val="3B82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10"/>
          <p:cNvSpPr/>
          <p:nvPr/>
        </p:nvSpPr>
        <p:spPr>
          <a:xfrm>
            <a:off x="6352760" y="30723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04</a:t>
            </a:r>
            <a:endParaRPr lang="en-US" sz="700" dirty="0">
              <a:solidFill>
                <a:srgbClr val="3B82F6"/>
              </a:solidFill>
            </a:endParaRPr>
          </a:p>
        </p:txBody>
      </p:sp>
      <p:sp>
        <p:nvSpPr>
          <p:cNvPr id="43" name="Text 11"/>
          <p:cNvSpPr/>
          <p:nvPr/>
        </p:nvSpPr>
        <p:spPr>
          <a:xfrm>
            <a:off x="6352760" y="32826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accessibility-audit.md</a:t>
            </a:r>
            <a:endParaRPr lang="en-US" sz="1200" dirty="0"/>
          </a:p>
        </p:txBody>
      </p:sp>
      <p:sp>
        <p:nvSpPr>
          <p:cNvPr id="44" name="Text 12"/>
          <p:cNvSpPr/>
          <p:nvPr/>
        </p:nvSpPr>
        <p:spPr>
          <a:xfrm>
            <a:off x="10559000" y="32826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000" dirty="0"/>
          </a:p>
        </p:txBody>
      </p:sp>
      <p:sp>
        <p:nvSpPr>
          <p:cNvPr id="45" name="Shape 3"/>
          <p:cNvSpPr/>
          <p:nvPr/>
        </p:nvSpPr>
        <p:spPr>
          <a:xfrm>
            <a:off x="454880" y="356616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"/>
          <p:cNvSpPr/>
          <p:nvPr/>
        </p:nvSpPr>
        <p:spPr>
          <a:xfrm>
            <a:off x="454880" y="3566160"/>
            <a:ext cx="45720" cy="54864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5"/>
          <p:cNvSpPr/>
          <p:nvPr/>
        </p:nvSpPr>
        <p:spPr>
          <a:xfrm>
            <a:off x="592040" y="36210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05</a:t>
            </a:r>
            <a:endParaRPr lang="en-US" sz="700" dirty="0">
              <a:solidFill>
                <a:srgbClr val="EF4444"/>
              </a:solidFill>
            </a:endParaRPr>
          </a:p>
        </p:txBody>
      </p:sp>
      <p:sp>
        <p:nvSpPr>
          <p:cNvPr id="48" name="Text 6"/>
          <p:cNvSpPr/>
          <p:nvPr/>
        </p:nvSpPr>
        <p:spPr>
          <a:xfrm>
            <a:off x="592040" y="3831335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usability-testing.md</a:t>
            </a:r>
            <a:endParaRPr lang="en-US" sz="1200" dirty="0"/>
          </a:p>
        </p:txBody>
      </p:sp>
      <p:sp>
        <p:nvSpPr>
          <p:cNvPr id="49" name="Text 7"/>
          <p:cNvSpPr/>
          <p:nvPr/>
        </p:nvSpPr>
        <p:spPr>
          <a:xfrm>
            <a:off x="4336000" y="3831335"/>
            <a:ext cx="1513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</p:txBody>
      </p:sp>
      <p:sp>
        <p:nvSpPr>
          <p:cNvPr id="50" name="Shape 8"/>
          <p:cNvSpPr/>
          <p:nvPr/>
        </p:nvSpPr>
        <p:spPr>
          <a:xfrm>
            <a:off x="6215600" y="356616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9"/>
          <p:cNvSpPr/>
          <p:nvPr/>
        </p:nvSpPr>
        <p:spPr>
          <a:xfrm>
            <a:off x="6215600" y="3566160"/>
            <a:ext cx="45720" cy="548640"/>
          </a:xfrm>
          <a:prstGeom prst="rect">
            <a:avLst/>
          </a:prstGeom>
          <a:solidFill>
            <a:srgbClr val="14B8A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10"/>
          <p:cNvSpPr/>
          <p:nvPr/>
        </p:nvSpPr>
        <p:spPr>
          <a:xfrm>
            <a:off x="6352760" y="36210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06</a:t>
            </a:r>
            <a:endParaRPr lang="en-US" sz="700" dirty="0"/>
          </a:p>
        </p:txBody>
      </p:sp>
      <p:sp>
        <p:nvSpPr>
          <p:cNvPr id="53" name="Text 11"/>
          <p:cNvSpPr/>
          <p:nvPr/>
        </p:nvSpPr>
        <p:spPr>
          <a:xfrm>
            <a:off x="6352760" y="3831335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design-delivery.md</a:t>
            </a:r>
            <a:endParaRPr lang="en-US" sz="1200" dirty="0"/>
          </a:p>
        </p:txBody>
      </p:sp>
      <p:sp>
        <p:nvSpPr>
          <p:cNvPr id="54" name="Text 12"/>
          <p:cNvSpPr/>
          <p:nvPr/>
        </p:nvSpPr>
        <p:spPr>
          <a:xfrm>
            <a:off x="10559000" y="3831335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000" dirty="0"/>
          </a:p>
        </p:txBody>
      </p:sp>
      <p:sp>
        <p:nvSpPr>
          <p:cNvPr id="55" name="Shape 3"/>
          <p:cNvSpPr/>
          <p:nvPr/>
        </p:nvSpPr>
        <p:spPr>
          <a:xfrm>
            <a:off x="454880" y="411480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4"/>
          <p:cNvSpPr/>
          <p:nvPr/>
        </p:nvSpPr>
        <p:spPr>
          <a:xfrm>
            <a:off x="454880" y="4114800"/>
            <a:ext cx="45720" cy="54864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"/>
          <p:cNvSpPr/>
          <p:nvPr/>
        </p:nvSpPr>
        <p:spPr>
          <a:xfrm>
            <a:off x="592040" y="4169663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03/06</a:t>
            </a:r>
            <a:endParaRPr lang="en-US" sz="700" dirty="0"/>
          </a:p>
        </p:txBody>
      </p:sp>
      <p:sp>
        <p:nvSpPr>
          <p:cNvPr id="58" name="Text 6"/>
          <p:cNvSpPr/>
          <p:nvPr/>
        </p:nvSpPr>
        <p:spPr>
          <a:xfrm>
            <a:off x="592040" y="43799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design-systems.md</a:t>
            </a:r>
            <a:endParaRPr lang="en-US" sz="1200" dirty="0"/>
          </a:p>
        </p:txBody>
      </p:sp>
      <p:sp>
        <p:nvSpPr>
          <p:cNvPr id="59" name="Text 7"/>
          <p:cNvSpPr/>
          <p:nvPr/>
        </p:nvSpPr>
        <p:spPr>
          <a:xfrm>
            <a:off x="4336000" y="4379976"/>
            <a:ext cx="1513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 + Deliver</a:t>
            </a:r>
            <a:endParaRPr lang="en-US" sz="1000" dirty="0"/>
          </a:p>
        </p:txBody>
      </p:sp>
      <p:sp>
        <p:nvSpPr>
          <p:cNvPr id="60" name="Shape 8"/>
          <p:cNvSpPr/>
          <p:nvPr/>
        </p:nvSpPr>
        <p:spPr>
          <a:xfrm>
            <a:off x="6215600" y="411480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9"/>
          <p:cNvSpPr/>
          <p:nvPr/>
        </p:nvSpPr>
        <p:spPr>
          <a:xfrm>
            <a:off x="6215600" y="4114800"/>
            <a:ext cx="45720" cy="5486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10"/>
          <p:cNvSpPr/>
          <p:nvPr/>
        </p:nvSpPr>
        <p:spPr>
          <a:xfrm>
            <a:off x="6352760" y="4169663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ALL</a:t>
            </a:r>
            <a:endParaRPr 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Text 11"/>
          <p:cNvSpPr/>
          <p:nvPr/>
        </p:nvSpPr>
        <p:spPr>
          <a:xfrm>
            <a:off x="6352760" y="43799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skill-chaining.md</a:t>
            </a:r>
            <a:endParaRPr lang="en-US" sz="1200" dirty="0"/>
          </a:p>
        </p:txBody>
      </p:sp>
      <p:sp>
        <p:nvSpPr>
          <p:cNvPr id="64" name="Text 12"/>
          <p:cNvSpPr/>
          <p:nvPr/>
        </p:nvSpPr>
        <p:spPr>
          <a:xfrm>
            <a:off x="10559000" y="43799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phases</a:t>
            </a:r>
            <a:endParaRPr lang="en-US" sz="1000" dirty="0"/>
          </a:p>
        </p:txBody>
      </p:sp>
      <p:sp>
        <p:nvSpPr>
          <p:cNvPr id="65" name="Shape 3"/>
          <p:cNvSpPr/>
          <p:nvPr/>
        </p:nvSpPr>
        <p:spPr>
          <a:xfrm>
            <a:off x="454880" y="466344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4"/>
          <p:cNvSpPr/>
          <p:nvPr/>
        </p:nvSpPr>
        <p:spPr>
          <a:xfrm>
            <a:off x="454880" y="4663440"/>
            <a:ext cx="45720" cy="5486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"/>
          <p:cNvSpPr/>
          <p:nvPr/>
        </p:nvSpPr>
        <p:spPr>
          <a:xfrm>
            <a:off x="592040" y="4718303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ALL</a:t>
            </a:r>
            <a:endParaRPr 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8" name="Text 6"/>
          <p:cNvSpPr/>
          <p:nvPr/>
        </p:nvSpPr>
        <p:spPr>
          <a:xfrm>
            <a:off x="592040" y="49286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figma-playbook.md</a:t>
            </a:r>
            <a:endParaRPr lang="en-US" sz="1200" dirty="0"/>
          </a:p>
        </p:txBody>
      </p:sp>
      <p:sp>
        <p:nvSpPr>
          <p:cNvPr id="69" name="Text 7"/>
          <p:cNvSpPr/>
          <p:nvPr/>
        </p:nvSpPr>
        <p:spPr>
          <a:xfrm>
            <a:off x="4336000" y="4928616"/>
            <a:ext cx="1513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phases</a:t>
            </a:r>
            <a:endParaRPr lang="en-US" sz="1000" dirty="0"/>
          </a:p>
        </p:txBody>
      </p:sp>
      <p:sp>
        <p:nvSpPr>
          <p:cNvPr id="70" name="Shape 8"/>
          <p:cNvSpPr/>
          <p:nvPr/>
        </p:nvSpPr>
        <p:spPr>
          <a:xfrm>
            <a:off x="6215600" y="466344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9"/>
          <p:cNvSpPr/>
          <p:nvPr/>
        </p:nvSpPr>
        <p:spPr>
          <a:xfrm>
            <a:off x="6215600" y="4663440"/>
            <a:ext cx="45720" cy="5486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10"/>
          <p:cNvSpPr/>
          <p:nvPr/>
        </p:nvSpPr>
        <p:spPr>
          <a:xfrm>
            <a:off x="6352760" y="4718303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 11"/>
          <p:cNvSpPr/>
          <p:nvPr/>
        </p:nvSpPr>
        <p:spPr>
          <a:xfrm>
            <a:off x="6352760" y="49286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Process System</a:t>
            </a:r>
            <a:endParaRPr lang="en-US" sz="1200" dirty="0"/>
          </a:p>
        </p:txBody>
      </p:sp>
      <p:sp>
        <p:nvSpPr>
          <p:cNvPr id="74" name="Text 12"/>
          <p:cNvSpPr/>
          <p:nvPr/>
        </p:nvSpPr>
        <p:spPr>
          <a:xfrm>
            <a:off x="10559000" y="49286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explorer</a:t>
            </a:r>
            <a:endParaRPr lang="en-US" sz="1000" dirty="0"/>
          </a:p>
        </p:txBody>
      </p:sp>
      <p:sp>
        <p:nvSpPr>
          <p:cNvPr id="75" name="Shape 3"/>
          <p:cNvSpPr/>
          <p:nvPr/>
        </p:nvSpPr>
        <p:spPr>
          <a:xfrm>
            <a:off x="454880" y="521208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4"/>
          <p:cNvSpPr/>
          <p:nvPr/>
        </p:nvSpPr>
        <p:spPr>
          <a:xfrm>
            <a:off x="454880" y="5212080"/>
            <a:ext cx="45720" cy="5486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5"/>
          <p:cNvSpPr/>
          <p:nvPr/>
        </p:nvSpPr>
        <p:spPr>
          <a:xfrm>
            <a:off x="592040" y="52669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Text 6"/>
          <p:cNvSpPr/>
          <p:nvPr/>
        </p:nvSpPr>
        <p:spPr>
          <a:xfrm>
            <a:off x="592040" y="54772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 Generator</a:t>
            </a:r>
            <a:endParaRPr lang="en-US" sz="1200" dirty="0"/>
          </a:p>
        </p:txBody>
      </p:sp>
      <p:sp>
        <p:nvSpPr>
          <p:cNvPr id="79" name="Text 7"/>
          <p:cNvSpPr/>
          <p:nvPr/>
        </p:nvSpPr>
        <p:spPr>
          <a:xfrm>
            <a:off x="4336000" y="5477256"/>
            <a:ext cx="1513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kickoff</a:t>
            </a:r>
            <a:endParaRPr lang="en-US" sz="1000" dirty="0"/>
          </a:p>
        </p:txBody>
      </p:sp>
      <p:sp>
        <p:nvSpPr>
          <p:cNvPr id="80" name="Shape 8"/>
          <p:cNvSpPr/>
          <p:nvPr/>
        </p:nvSpPr>
        <p:spPr>
          <a:xfrm>
            <a:off x="6215600" y="521208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9"/>
          <p:cNvSpPr/>
          <p:nvPr/>
        </p:nvSpPr>
        <p:spPr>
          <a:xfrm>
            <a:off x="6215600" y="5212080"/>
            <a:ext cx="45720" cy="5486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10"/>
          <p:cNvSpPr/>
          <p:nvPr/>
        </p:nvSpPr>
        <p:spPr>
          <a:xfrm>
            <a:off x="6352760" y="52669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3" name="Text 11"/>
          <p:cNvSpPr/>
          <p:nvPr/>
        </p:nvSpPr>
        <p:spPr>
          <a:xfrm>
            <a:off x="6352760" y="54772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Style Builder</a:t>
            </a:r>
            <a:endParaRPr lang="en-US" sz="1200" dirty="0"/>
          </a:p>
        </p:txBody>
      </p:sp>
      <p:sp>
        <p:nvSpPr>
          <p:cNvPr id="84" name="Text 12"/>
          <p:cNvSpPr/>
          <p:nvPr/>
        </p:nvSpPr>
        <p:spPr>
          <a:xfrm>
            <a:off x="10559000" y="547725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builder</a:t>
            </a:r>
            <a:endParaRPr lang="en-US" sz="1000" dirty="0"/>
          </a:p>
        </p:txBody>
      </p:sp>
      <p:sp>
        <p:nvSpPr>
          <p:cNvPr id="85" name="Shape 3"/>
          <p:cNvSpPr/>
          <p:nvPr/>
        </p:nvSpPr>
        <p:spPr>
          <a:xfrm>
            <a:off x="454880" y="576072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4"/>
          <p:cNvSpPr/>
          <p:nvPr/>
        </p:nvSpPr>
        <p:spPr>
          <a:xfrm>
            <a:off x="454880" y="5760720"/>
            <a:ext cx="45720" cy="5486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5"/>
          <p:cNvSpPr/>
          <p:nvPr/>
        </p:nvSpPr>
        <p:spPr>
          <a:xfrm>
            <a:off x="592040" y="5815583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8" name="Text 6"/>
          <p:cNvSpPr/>
          <p:nvPr/>
        </p:nvSpPr>
        <p:spPr>
          <a:xfrm>
            <a:off x="592040" y="6025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Audit</a:t>
            </a:r>
            <a:endParaRPr lang="en-US" sz="1200" dirty="0"/>
          </a:p>
        </p:txBody>
      </p:sp>
      <p:sp>
        <p:nvSpPr>
          <p:cNvPr id="89" name="Text 7"/>
          <p:cNvSpPr/>
          <p:nvPr/>
        </p:nvSpPr>
        <p:spPr>
          <a:xfrm>
            <a:off x="4336000" y="6025896"/>
            <a:ext cx="1513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tool</a:t>
            </a:r>
            <a:endParaRPr lang="en-US" sz="1000" dirty="0"/>
          </a:p>
        </p:txBody>
      </p:sp>
      <p:sp>
        <p:nvSpPr>
          <p:cNvPr id="90" name="Shape 8"/>
          <p:cNvSpPr/>
          <p:nvPr/>
        </p:nvSpPr>
        <p:spPr>
          <a:xfrm>
            <a:off x="6215600" y="576072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9"/>
          <p:cNvSpPr/>
          <p:nvPr/>
        </p:nvSpPr>
        <p:spPr>
          <a:xfrm>
            <a:off x="6215600" y="5760720"/>
            <a:ext cx="45720" cy="5486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10"/>
          <p:cNvSpPr/>
          <p:nvPr/>
        </p:nvSpPr>
        <p:spPr>
          <a:xfrm>
            <a:off x="6352760" y="5815583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3" name="Text 11"/>
          <p:cNvSpPr/>
          <p:nvPr/>
        </p:nvSpPr>
        <p:spPr>
          <a:xfrm>
            <a:off x="6352760" y="6025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github.com/quinrobinson/Agentic-Product-Design-Framework</a:t>
            </a:r>
            <a:endParaRPr lang="en-US" sz="1200" dirty="0"/>
          </a:p>
        </p:txBody>
      </p:sp>
      <p:sp>
        <p:nvSpPr>
          <p:cNvPr id="94" name="Text 12"/>
          <p:cNvSpPr/>
          <p:nvPr/>
        </p:nvSpPr>
        <p:spPr>
          <a:xfrm>
            <a:off x="10559000" y="60258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3080" y="403376"/>
            <a:ext cx="73152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Product</a:t>
            </a:r>
            <a:r>
              <a:rPr lang="en-US" sz="5600" dirty="0"/>
              <a:t> </a:t>
            </a: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Framework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640080" y="2387624"/>
            <a:ext cx="109728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0545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2374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quinrobinson.github.io/Agentic-Product-Design-Framework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6489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38318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figma.com/design/mrHuD7sY7h6uKSVndTSIQE</a:t>
            </a:r>
            <a:endParaRPr lang="en-US" sz="1300" dirty="0"/>
          </a:p>
        </p:txBody>
      </p:sp>
      <p:sp>
        <p:nvSpPr>
          <p:cNvPr id="4" name="Text 5"/>
          <p:cNvSpPr/>
          <p:nvPr/>
        </p:nvSpPr>
        <p:spPr>
          <a:xfrm>
            <a:off x="640080" y="42433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44261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github.com/quinrobinson/Agentic-Product-Design-Framework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332720" y="65288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— MIT License</a:t>
            </a:r>
            <a:endParaRPr lang="en-US" sz="9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F7644390-9D64-B900-9D15-D246C7379E3F}"/>
              </a:ext>
            </a:extLst>
          </p:cNvPr>
          <p:cNvSpPr/>
          <p:nvPr/>
        </p:nvSpPr>
        <p:spPr>
          <a:xfrm>
            <a:off x="640080" y="5829921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10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933EA2E2-6FAA-4EED-CD40-EA5580C634BA}"/>
              </a:ext>
            </a:extLst>
          </p:cNvPr>
          <p:cNvSpPr/>
          <p:nvPr/>
        </p:nvSpPr>
        <p:spPr>
          <a:xfrm>
            <a:off x="640080" y="6104240"/>
            <a:ext cx="1280160" cy="0"/>
          </a:xfrm>
          <a:prstGeom prst="rect">
            <a:avLst/>
          </a:prstGeom>
          <a:solidFill>
            <a:srgbClr val="22C55E">
              <a:alpha val="45000"/>
            </a:srgbClr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045E40E9-181C-0F38-EFCC-F5D6C5FEB4B1}"/>
              </a:ext>
            </a:extLst>
          </p:cNvPr>
          <p:cNvSpPr/>
          <p:nvPr/>
        </p:nvSpPr>
        <p:spPr>
          <a:xfrm>
            <a:off x="2560320" y="5829921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100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A3D1606B-A87D-6C11-FEF2-E325E67E1808}"/>
              </a:ext>
            </a:extLst>
          </p:cNvPr>
          <p:cNvSpPr/>
          <p:nvPr/>
        </p:nvSpPr>
        <p:spPr>
          <a:xfrm>
            <a:off x="2560320" y="6104240"/>
            <a:ext cx="1280160" cy="0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4CBBE6D7-3F18-E7A5-1E7D-B5CAE3E15507}"/>
              </a:ext>
            </a:extLst>
          </p:cNvPr>
          <p:cNvSpPr/>
          <p:nvPr/>
        </p:nvSpPr>
        <p:spPr>
          <a:xfrm>
            <a:off x="4480560" y="5829921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10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60D99668-EA87-B270-6328-2A129E24DCE8}"/>
              </a:ext>
            </a:extLst>
          </p:cNvPr>
          <p:cNvSpPr/>
          <p:nvPr/>
        </p:nvSpPr>
        <p:spPr>
          <a:xfrm>
            <a:off x="4480560" y="6104240"/>
            <a:ext cx="1280160" cy="0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86D2405A-CF91-B43B-0249-F28A30FA57FF}"/>
              </a:ext>
            </a:extLst>
          </p:cNvPr>
          <p:cNvSpPr/>
          <p:nvPr/>
        </p:nvSpPr>
        <p:spPr>
          <a:xfrm>
            <a:off x="6400800" y="5829921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6A6BA315-CB80-853C-EF7F-2B33DFAF899D}"/>
              </a:ext>
            </a:extLst>
          </p:cNvPr>
          <p:cNvSpPr/>
          <p:nvPr/>
        </p:nvSpPr>
        <p:spPr>
          <a:xfrm>
            <a:off x="6400800" y="6104240"/>
            <a:ext cx="1280160" cy="0"/>
          </a:xfrm>
          <a:prstGeom prst="rect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C602583C-69B5-9B22-3352-F3902E2A5863}"/>
              </a:ext>
            </a:extLst>
          </p:cNvPr>
          <p:cNvSpPr/>
          <p:nvPr/>
        </p:nvSpPr>
        <p:spPr>
          <a:xfrm>
            <a:off x="8321040" y="5829921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ACD86337-EAA7-97A5-DC20-3F1419020862}"/>
              </a:ext>
            </a:extLst>
          </p:cNvPr>
          <p:cNvSpPr/>
          <p:nvPr/>
        </p:nvSpPr>
        <p:spPr>
          <a:xfrm>
            <a:off x="8321040" y="6104240"/>
            <a:ext cx="1280160" cy="0"/>
          </a:xfrm>
          <a:prstGeom prst="rect">
            <a:avLst/>
          </a:prstGeom>
          <a:solidFill>
            <a:srgbClr val="EF4444">
              <a:alpha val="45000"/>
            </a:srgbClr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59657DED-C3A2-C9C1-1407-40F191E74EFE}"/>
              </a:ext>
            </a:extLst>
          </p:cNvPr>
          <p:cNvSpPr/>
          <p:nvPr/>
        </p:nvSpPr>
        <p:spPr>
          <a:xfrm>
            <a:off x="10241280" y="5829921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100" dirty="0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5262CCC7-115A-B25C-8C6C-A4F4C4777CE9}"/>
              </a:ext>
            </a:extLst>
          </p:cNvPr>
          <p:cNvSpPr/>
          <p:nvPr/>
        </p:nvSpPr>
        <p:spPr>
          <a:xfrm>
            <a:off x="10241280" y="6104240"/>
            <a:ext cx="1280160" cy="0"/>
          </a:xfrm>
          <a:prstGeom prst="rect">
            <a:avLst/>
          </a:prstGeom>
          <a:solidFill>
            <a:srgbClr val="14B8A6">
              <a:alpha val="45000"/>
            </a:srgbClr>
          </a:solidFill>
          <a:ln w="12700">
            <a:solidFill>
              <a:srgbClr val="14B8A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2587</Words>
  <Application>Microsoft Macintosh PowerPoint</Application>
  <PresentationFormat>Widescreen</PresentationFormat>
  <Paragraphs>505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x UX Design Framework — Onboarding</dc:title>
  <dc:subject>PptxGenJS Presentation</dc:subject>
  <dc:creator>Quin Robinson</dc:creator>
  <cp:lastModifiedBy>Quin Robinson</cp:lastModifiedBy>
  <cp:revision>7</cp:revision>
  <dcterms:created xsi:type="dcterms:W3CDTF">2026-03-28T19:04:09Z</dcterms:created>
  <dcterms:modified xsi:type="dcterms:W3CDTF">2026-03-30T18:26:32Z</dcterms:modified>
</cp:coreProperties>
</file>